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0C432"/>
                </a:solidFill>
                <a:latin typeface="Aptos"/>
              </a:defRPr>
            </a:pPr>
            <a:r>
              <a:t>AI • COMPUTER VISION • SPORTS BIOMECHANICS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8412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600" b="1">
                <a:solidFill>
                  <a:srgbClr val="F4F7F5"/>
                </a:solidFill>
                <a:latin typeface="Aptos"/>
              </a:defRPr>
            </a:pPr>
            <a:r>
              <a:t>Sports Injury</a:t>
            </a:r>
            <a:br/>
            <a:r>
              <a:t>Risk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>
                <a:solidFill>
                  <a:srgbClr val="A0C432"/>
                </a:solidFill>
                <a:latin typeface="Aptos"/>
              </a:defRPr>
            </a:pPr>
            <a:r>
              <a:t>AI-Powered Biomechanical Motion Analysis &amp; Real-Time Injury Prevention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8229600" cy="105156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109728" cy="1051560"/>
          </a:xfrm>
          <a:prstGeom prst="round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663440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4F7F5"/>
                </a:solidFill>
                <a:latin typeface="Aptos"/>
              </a:defRPr>
            </a:pPr>
            <a:r>
              <a:t>Biomechanical Analysis at the Edge</a:t>
            </a:r>
          </a:p>
          <a:p>
            <a:pPr>
              <a:defRPr sz="1300">
                <a:solidFill>
                  <a:srgbClr val="A7B3AD"/>
                </a:solidFill>
                <a:latin typeface="Aptos"/>
              </a:defRPr>
            </a:pPr>
            <a:r>
              <a:t>In-browser MediaPipe WebAssembly (WASM) pose estimation eliminating heavy server video uploads.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760720"/>
            <a:ext cx="8229600" cy="105156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5760720"/>
            <a:ext cx="109728" cy="1051560"/>
          </a:xfrm>
          <a:prstGeom prst="roundRect">
            <a:avLst/>
          </a:prstGeom>
          <a:solidFill>
            <a:srgbClr val="F0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852159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4F7F5"/>
                </a:solidFill>
                <a:latin typeface="Aptos"/>
              </a:defRPr>
            </a:pPr>
            <a:r>
              <a:t>Proactive Predictive Safety</a:t>
            </a:r>
          </a:p>
          <a:p>
            <a:pPr>
              <a:defRPr sz="1300">
                <a:solidFill>
                  <a:srgbClr val="A7B3AD"/>
                </a:solidFill>
                <a:latin typeface="Aptos"/>
              </a:defRPr>
            </a:pPr>
            <a:r>
              <a:t>Real-time dynamic joint scanning (valgus, pelvic tilt, flexion) to catch biomechanical anomalies pre-injury.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6949440"/>
            <a:ext cx="8229600" cy="105156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6949440"/>
            <a:ext cx="109728" cy="1051560"/>
          </a:xfrm>
          <a:prstGeom prst="roundRect">
            <a:avLst/>
          </a:prstGeom>
          <a:solidFill>
            <a:srgbClr val="4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7040879"/>
            <a:ext cx="7772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4F7F5"/>
                </a:solidFill>
                <a:latin typeface="Aptos"/>
              </a:defRPr>
            </a:pPr>
            <a:r>
              <a:t>Explainable Clinical Support</a:t>
            </a:r>
          </a:p>
          <a:p>
            <a:pPr>
              <a:defRPr sz="1300">
                <a:solidFill>
                  <a:srgbClr val="A7B3AD"/>
                </a:solidFill>
                <a:latin typeface="Aptos"/>
              </a:defRPr>
            </a:pPr>
            <a:r>
              <a:t>Transparent XAI rationale attribution cards paired with Google Gemini AI corrective exercise plans.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8321040"/>
            <a:ext cx="8229600" cy="128016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8321040"/>
            <a:ext cx="109728" cy="1280160"/>
          </a:xfrm>
          <a:prstGeom prst="round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84124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7948E"/>
                </a:solidFill>
                <a:latin typeface="Aptos"/>
              </a:defRPr>
            </a:pPr>
            <a:r>
              <a:t>Presented by:</a:t>
            </a:r>
          </a:p>
          <a:p>
            <a:pPr>
              <a:defRPr sz="2600" b="1">
                <a:solidFill>
                  <a:srgbClr val="F4F7F5"/>
                </a:solidFill>
                <a:latin typeface="Aptos"/>
              </a:defRPr>
            </a:pPr>
            <a:r>
              <a:t>Iqra Khan</a:t>
            </a:r>
          </a:p>
          <a:p>
            <a:pPr>
              <a:defRPr sz="1300">
                <a:solidFill>
                  <a:srgbClr val="A0C432"/>
                </a:solidFill>
                <a:latin typeface="Aptos"/>
              </a:defRPr>
            </a:pPr>
            <a:r>
              <a:t>Sports Injury Risk Detection System (SIRD) • Final Capstone Presentation</a:t>
            </a:r>
          </a:p>
        </p:txBody>
      </p:sp>
      <p:pic>
        <p:nvPicPr>
          <p:cNvPr id="18" name="Picture 1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731520"/>
            <a:ext cx="8046720" cy="868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4630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4F7F5"/>
                </a:solidFill>
                <a:latin typeface="Aptos"/>
              </a:defRPr>
            </a:pPr>
            <a:r>
              <a:t>Problem Statement &amp; Key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417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A7B3AD"/>
                </a:solidFill>
                <a:latin typeface="Aptos"/>
              </a:defRPr>
            </a:pPr>
            <a:r>
              <a:t>Bridging the gap between subjective athletic screening and real-world computer vision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0" y="41148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A0C43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8046720" cy="804672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9728" cy="8046720"/>
          </a:xfrm>
          <a:prstGeom prst="roundRect">
            <a:avLst/>
          </a:prstGeom>
          <a:solidFill>
            <a:srgbClr val="EB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74519"/>
            <a:ext cx="7406640" cy="667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B5858"/>
                </a:solidFill>
                <a:latin typeface="Aptos"/>
              </a:defRPr>
            </a:pPr>
            <a:r>
              <a:t>TRADITIONAL SPORTS INJURY SCREENING GAPS</a:t>
            </a:r>
          </a:p>
          <a:p>
            <a:pPr>
              <a:spcBef>
                <a:spcPts val="1600"/>
              </a:spcBef>
              <a:defRPr sz="1700" b="1">
                <a:solidFill>
                  <a:srgbClr val="F4F7F5"/>
                </a:solidFill>
                <a:latin typeface="Aptos"/>
              </a:defRPr>
            </a:pPr>
            <a:r>
              <a:t>•  Subjective Visual Inspections</a:t>
            </a:r>
          </a:p>
          <a:p>
            <a:pPr>
              <a:spcBef>
                <a:spcPts val="400"/>
              </a:spcBef>
              <a:defRPr sz="1400">
                <a:solidFill>
                  <a:srgbClr val="C3CFC9"/>
                </a:solidFill>
                <a:latin typeface="Aptos"/>
              </a:defRPr>
            </a:pPr>
            <a:r>
              <a:t>   Coaches and athletic staff rely heavily on visual observation. Subtle dynamic knee valgus collapses (&lt;15°) or eccentric bilateral asymmetries during high-speed loading are virtually invisible to the naked human eye.</a:t>
            </a:r>
          </a:p>
          <a:p>
            <a:pPr>
              <a:spcBef>
                <a:spcPts val="1600"/>
              </a:spcBef>
              <a:defRPr sz="1700" b="1">
                <a:solidFill>
                  <a:srgbClr val="F4F7F5"/>
                </a:solidFill>
                <a:latin typeface="Aptos"/>
              </a:defRPr>
            </a:pPr>
            <a:r>
              <a:t>•  Post-Injury Reactive Diagnostics</a:t>
            </a:r>
          </a:p>
          <a:p>
            <a:pPr>
              <a:spcBef>
                <a:spcPts val="400"/>
              </a:spcBef>
              <a:defRPr sz="1400">
                <a:solidFill>
                  <a:srgbClr val="C3CFC9"/>
                </a:solidFill>
                <a:latin typeface="Aptos"/>
              </a:defRPr>
            </a:pPr>
            <a:r>
              <a:t>   Conventional sports medicine operates reactively—diagnosing ligament tears or structural muscle damage after traumatic failure has occurred, rather than flagging cumulative biomechanical risk.</a:t>
            </a:r>
          </a:p>
          <a:p>
            <a:pPr>
              <a:spcBef>
                <a:spcPts val="1600"/>
              </a:spcBef>
              <a:defRPr sz="1700" b="1">
                <a:solidFill>
                  <a:srgbClr val="F4F7F5"/>
                </a:solidFill>
                <a:latin typeface="Aptos"/>
              </a:defRPr>
            </a:pPr>
            <a:r>
              <a:t>•  Prohibitive Laboratory Barriers</a:t>
            </a:r>
          </a:p>
          <a:p>
            <a:pPr>
              <a:spcBef>
                <a:spcPts val="400"/>
              </a:spcBef>
              <a:defRPr sz="1400">
                <a:solidFill>
                  <a:srgbClr val="C3CFC9"/>
                </a:solidFill>
                <a:latin typeface="Aptos"/>
              </a:defRPr>
            </a:pPr>
            <a:r>
              <a:t>   Gold-standard 3D optical motion capture laboratories and force plate platforms cost upwards of $50,000+, demanding complex multi-camera rigs and specialized operators inaccessible to local clubs and schools.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8732520"/>
            <a:ext cx="7315200" cy="64008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EB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EB5858"/>
                </a:solidFill>
                <a:latin typeface="Aptos"/>
              </a:defRPr>
            </a:pPr>
            <a:r>
              <a:t>⚠️ Impact: Over 60% of non-contact ACL &amp; tendon injuries stem from unmonitored biomechanical defects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645920"/>
            <a:ext cx="8046720" cy="804672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0" y="1645920"/>
            <a:ext cx="109728" cy="8046720"/>
          </a:xfrm>
          <a:prstGeom prst="roundRect">
            <a:avLst/>
          </a:prstGeom>
          <a:solidFill>
            <a:srgbClr val="F0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874519"/>
            <a:ext cx="7406640" cy="667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0BE41"/>
                </a:solidFill>
                <a:latin typeface="Aptos"/>
              </a:defRPr>
            </a:pPr>
            <a:r>
              <a:t>EDGE COMPUTER VISION &amp; TECHNICAL CHALLENGES</a:t>
            </a:r>
          </a:p>
          <a:p>
            <a:pPr>
              <a:spcBef>
                <a:spcPts val="1200"/>
              </a:spcBef>
              <a:defRPr sz="1600" b="1">
                <a:solidFill>
                  <a:srgbClr val="F4F7F5"/>
                </a:solidFill>
                <a:latin typeface="Aptos"/>
              </a:defRPr>
            </a:pPr>
            <a:r>
              <a:t>•  1. Camera Occlusion &amp; Complex Angles</a:t>
            </a:r>
          </a:p>
          <a:p>
            <a:pPr>
              <a:spcBef>
                <a:spcPts val="3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   Single-camera feeds suffer from limb self-occlusion during rapid multi-planar movements, corrupting depth estimations and 3D angle calculations.</a:t>
            </a:r>
          </a:p>
          <a:p>
            <a:pPr>
              <a:spcBef>
                <a:spcPts val="1200"/>
              </a:spcBef>
              <a:defRPr sz="1600" b="1">
                <a:solidFill>
                  <a:srgbClr val="F4F7F5"/>
                </a:solidFill>
                <a:latin typeface="Aptos"/>
              </a:defRPr>
            </a:pPr>
            <a:r>
              <a:t>•  2. Coordinate Jitter &amp; Noise Spikes</a:t>
            </a:r>
          </a:p>
          <a:p>
            <a:pPr>
              <a:spcBef>
                <a:spcPts val="3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   Pixel-level tracking micro-fluctuations create artificial velocity spikes, triggering false-positive alerts when computing derivative acceleration.</a:t>
            </a:r>
          </a:p>
          <a:p>
            <a:pPr>
              <a:spcBef>
                <a:spcPts val="1200"/>
              </a:spcBef>
              <a:defRPr sz="1600" b="1">
                <a:solidFill>
                  <a:srgbClr val="F4F7F5"/>
                </a:solidFill>
                <a:latin typeface="Aptos"/>
              </a:defRPr>
            </a:pPr>
            <a:r>
              <a:t>•  3. Clothing &amp; Outdoor Lighting Interference</a:t>
            </a:r>
          </a:p>
          <a:p>
            <a:pPr>
              <a:spcBef>
                <a:spcPts val="3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   Loose athletic apparel and variable outdoor lighting (shadows, direct sunlight) obscure true anatomical joint centers and skeletal keypoints.</a:t>
            </a:r>
          </a:p>
          <a:p>
            <a:pPr>
              <a:spcBef>
                <a:spcPts val="1200"/>
              </a:spcBef>
              <a:defRPr sz="1600" b="1">
                <a:solidFill>
                  <a:srgbClr val="F4F7F5"/>
                </a:solidFill>
                <a:latin typeface="Aptos"/>
              </a:defRPr>
            </a:pPr>
            <a:r>
              <a:t>•  4. Diverse Anthropometry &amp; Frame Rate Drops</a:t>
            </a:r>
          </a:p>
          <a:p>
            <a:pPr>
              <a:spcBef>
                <a:spcPts val="3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   Athletes vary widely in height, limb ratios, and pelvic widths; additionally, mobile CPU thermal throttling causes fluctuating video FPS that disrupt time-series mechanics.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8732520"/>
            <a:ext cx="7315200" cy="64008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F0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F0BE41"/>
                </a:solidFill>
                <a:latin typeface="Aptos"/>
              </a:defRPr>
            </a:pPr>
            <a:r>
              <a:t>🎯 Goal: Robust client-side normalization, heuristic smoothing &amp; adaptive anthropometry filters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4630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4F7F5"/>
                </a:solidFill>
                <a:latin typeface="Aptos"/>
              </a:defRPr>
            </a:pPr>
            <a:r>
              <a:t>Project Objectives &amp; Core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417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A7B3AD"/>
                </a:solidFill>
                <a:latin typeface="Aptos"/>
              </a:defRPr>
            </a:pPr>
            <a:r>
              <a:t>Designing an automated, accessible, zero-latency clinical intelligence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0" y="41148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A0C43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8046720" cy="384048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9728" cy="3840480"/>
          </a:xfrm>
          <a:prstGeom prst="round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7452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0C432"/>
                </a:solidFill>
                <a:latin typeface="Aptos"/>
              </a:defRPr>
            </a:pPr>
            <a:r>
              <a:t>01  •  Shift from Reactive to Predictive Prevention</a:t>
            </a:r>
          </a:p>
          <a:p>
            <a:pPr>
              <a:spcBef>
                <a:spcPts val="1000"/>
              </a:spcBef>
              <a:defRPr sz="1500">
                <a:solidFill>
                  <a:srgbClr val="F4F7F5"/>
                </a:solidFill>
                <a:latin typeface="Aptos"/>
              </a:defRPr>
            </a:pPr>
            <a:r>
              <a:t>Replace subjective trainer observation and post-injury treatments with automated, real-time predictions of biomechanical risk before actual musculoskeletal damage occurs.</a:t>
            </a:r>
          </a:p>
          <a:p>
            <a:pPr>
              <a:spcBef>
                <a:spcPts val="800"/>
              </a:spcBef>
              <a:defRPr sz="1300">
                <a:solidFill>
                  <a:srgbClr val="A7B3AD"/>
                </a:solidFill>
                <a:latin typeface="Aptos"/>
              </a:defRPr>
            </a:pPr>
            <a:r>
              <a:t>Key Focus: Continuous scanning of dynamic knee valgus, pelvic tilt, and trunk lean during natural functional movement.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4800600"/>
            <a:ext cx="7315200" cy="50292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A0C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A0C432"/>
                </a:solidFill>
                <a:latin typeface="Aptos"/>
              </a:defRPr>
            </a:pPr>
            <a:r>
              <a:t>⚡ Real-Time Continuous Screening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645920"/>
            <a:ext cx="8046720" cy="384048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0" y="1645920"/>
            <a:ext cx="109728" cy="3840480"/>
          </a:xfrm>
          <a:prstGeom prst="roundRect">
            <a:avLst/>
          </a:prstGeom>
          <a:solidFill>
            <a:srgbClr val="4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87452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C9EFF"/>
                </a:solidFill>
                <a:latin typeface="Aptos"/>
              </a:defRPr>
            </a:pPr>
            <a:r>
              <a:t>02  •  Eliminate Video Latency &amp; Server Overhead</a:t>
            </a:r>
          </a:p>
          <a:p>
            <a:pPr>
              <a:spcBef>
                <a:spcPts val="1000"/>
              </a:spcBef>
              <a:defRPr sz="1500">
                <a:solidFill>
                  <a:srgbClr val="F4F7F5"/>
                </a:solidFill>
                <a:latin typeface="Aptos"/>
              </a:defRPr>
            </a:pPr>
            <a:r>
              <a:t>Offload all 33-point skeletal landmark detection directly to the user's browser using lightweight Google MediaPipe WebAssembly (WASM).</a:t>
            </a:r>
          </a:p>
          <a:p>
            <a:pPr>
              <a:spcBef>
                <a:spcPts val="800"/>
              </a:spcBef>
              <a:defRPr sz="1300">
                <a:solidFill>
                  <a:srgbClr val="A7B3AD"/>
                </a:solidFill>
                <a:latin typeface="Aptos"/>
              </a:defRPr>
            </a:pPr>
            <a:r>
              <a:t>Key Focus: Eliminates heavy multi-gigabyte video uploads, keeps cloud RAM usage below 30MB, and permanently avoids SIGKILL server crashes.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4800600"/>
            <a:ext cx="7315200" cy="50292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4C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4C9EFF"/>
                </a:solidFill>
                <a:latin typeface="Aptos"/>
              </a:defRPr>
            </a:pPr>
            <a:r>
              <a:t>🚀 &lt;30MB Cloud RAM • Zero Video Uploads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669280"/>
            <a:ext cx="8046720" cy="384048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5669280"/>
            <a:ext cx="109728" cy="3840480"/>
          </a:xfrm>
          <a:prstGeom prst="roundRect">
            <a:avLst/>
          </a:prstGeom>
          <a:solidFill>
            <a:srgbClr val="F0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8978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0BE41"/>
                </a:solidFill>
                <a:latin typeface="Aptos"/>
              </a:defRPr>
            </a:pPr>
            <a:r>
              <a:t>03  •  Centralize Multi-Role Athletic Workspaces</a:t>
            </a:r>
          </a:p>
          <a:p>
            <a:pPr>
              <a:spcBef>
                <a:spcPts val="1000"/>
              </a:spcBef>
              <a:defRPr sz="1500">
                <a:solidFill>
                  <a:srgbClr val="F4F7F5"/>
                </a:solidFill>
                <a:latin typeface="Aptos"/>
              </a:defRPr>
            </a:pPr>
            <a:r>
              <a:t>Provide athletes, coaches, and clinicians with a single unified workspace containing live telemetry, joint risk heatmaps, and downloadable clinical summaries.</a:t>
            </a:r>
          </a:p>
          <a:p>
            <a:pPr>
              <a:spcBef>
                <a:spcPts val="800"/>
              </a:spcBef>
              <a:defRPr sz="1300">
                <a:solidFill>
                  <a:srgbClr val="A7B3AD"/>
                </a:solidFill>
                <a:latin typeface="Aptos"/>
              </a:defRPr>
            </a:pPr>
            <a:r>
              <a:t>Key Focus: Custom-tailored views: Athlete portal (heatmaps &amp; drills), Coach dashboard (roster triage &amp; alerts), and Physiotherapist view (telemetry).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8823960"/>
            <a:ext cx="7315200" cy="50292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F0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F0BE41"/>
                </a:solidFill>
                <a:latin typeface="Aptos"/>
              </a:defRPr>
            </a:pPr>
            <a:r>
              <a:t>👥 Unified Multi-Tenant Role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5669280"/>
            <a:ext cx="8046720" cy="384048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0" y="5669280"/>
            <a:ext cx="109728" cy="3840480"/>
          </a:xfrm>
          <a:prstGeom prst="roundRect">
            <a:avLst/>
          </a:prstGeom>
          <a:solidFill>
            <a:srgbClr val="EB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58978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B5858"/>
                </a:solidFill>
                <a:latin typeface="Aptos"/>
              </a:defRPr>
            </a:pPr>
            <a:r>
              <a:t>04  •  Automate Safe Generative AI Prescriptions</a:t>
            </a:r>
          </a:p>
          <a:p>
            <a:pPr>
              <a:spcBef>
                <a:spcPts val="1000"/>
              </a:spcBef>
              <a:defRPr sz="1500">
                <a:solidFill>
                  <a:srgbClr val="F4F7F5"/>
                </a:solidFill>
                <a:latin typeface="Aptos"/>
              </a:defRPr>
            </a:pPr>
            <a:r>
              <a:t>Instantly translate predicted motion defects and kinetic anomalies into safe, personalized corrective exercise routines powered by Google Gemini.</a:t>
            </a:r>
          </a:p>
          <a:p>
            <a:pPr>
              <a:spcBef>
                <a:spcPts val="800"/>
              </a:spcBef>
              <a:defRPr sz="1300">
                <a:solidFill>
                  <a:srgbClr val="A7B3AD"/>
                </a:solidFill>
                <a:latin typeface="Aptos"/>
              </a:defRPr>
            </a:pPr>
            <a:r>
              <a:t>Key Focus: Embedded deterministic clinical safety guardrails ensure exercises directly strengthen vulnerable stabilizing muscle groups.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8823960"/>
            <a:ext cx="7315200" cy="50292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EB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EB5858"/>
                </a:solidFill>
                <a:latin typeface="Aptos"/>
              </a:defRPr>
            </a:pPr>
            <a:r>
              <a:t>🧠 Deterministic Safety Guardrails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4630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4F7F5"/>
                </a:solidFill>
                <a:latin typeface="Aptos"/>
              </a:defRPr>
            </a:pPr>
            <a:r>
              <a:t>Existing Limitations vs.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417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A7B3AD"/>
                </a:solidFill>
                <a:latin typeface="Aptos"/>
              </a:defRPr>
            </a:pPr>
            <a:r>
              <a:t>Benchmarking traditional motion analysis methods against the SIRD edge-computed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0" y="41148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A0C43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8046720" cy="804672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9728" cy="8046720"/>
          </a:xfrm>
          <a:prstGeom prst="roundRect">
            <a:avLst/>
          </a:prstGeom>
          <a:solidFill>
            <a:srgbClr val="EB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74519"/>
            <a:ext cx="7406640" cy="667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B5858"/>
                </a:solidFill>
                <a:latin typeface="Aptos"/>
              </a:defRPr>
            </a:pPr>
            <a:r>
              <a:t>TRADITIONAL APPROACHES &amp; LIMITATIONS</a:t>
            </a:r>
          </a:p>
          <a:p>
            <a:pPr>
              <a:spcBef>
                <a:spcPts val="10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 Wearable IMU Sensor Suits: </a:t>
            </a:r>
            <a:r>
              <a:rPr sz="1400" b="0">
                <a:solidFill>
                  <a:srgbClr val="C3CFC9"/>
                </a:solidFill>
                <a:latin typeface="Aptos"/>
              </a:rPr>
              <a:t>Restrict natural movement, require frequent manual sensor calibration, and cost thousands of dollars. Unfeasible for daily squad training.</a:t>
            </a:r>
          </a:p>
          <a:p>
            <a:pPr>
              <a:spcBef>
                <a:spcPts val="10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 Optical Motion Capture Labs: </a:t>
            </a:r>
            <a:r>
              <a:rPr sz="1400" b="0">
                <a:solidFill>
                  <a:srgbClr val="C3CFC9"/>
                </a:solidFill>
                <a:latin typeface="Aptos"/>
              </a:rPr>
              <a:t>Require multi-camera synchronized studio rigs ($50,000+). Inaccessible to grassroots athletics, schools, and local sports clubs.</a:t>
            </a:r>
          </a:p>
          <a:p>
            <a:pPr>
              <a:spcBef>
                <a:spcPts val="10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 Static Rule Spreadsheets: </a:t>
            </a:r>
            <a:r>
              <a:rPr sz="1400" b="0">
                <a:solidFill>
                  <a:srgbClr val="C3CFC9"/>
                </a:solidFill>
                <a:latin typeface="Aptos"/>
              </a:rPr>
              <a:t>Coaching checklists fail to evaluate dynamic multi-planar posture variables, angular velocity changes, and fatigue degradation in real time.</a:t>
            </a:r>
          </a:p>
          <a:p>
            <a:pPr>
              <a:spcBef>
                <a:spcPts val="10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 High Hardware &amp; Cost Barrier: </a:t>
            </a:r>
            <a:r>
              <a:rPr sz="1400" b="0">
                <a:solidFill>
                  <a:srgbClr val="C3CFC9"/>
                </a:solidFill>
                <a:latin typeface="Aptos"/>
              </a:rPr>
              <a:t>Elite institutes monopolize diagnostic tools while amateur athletes remain vulnerable to preventable injuries.</a:t>
            </a:r>
          </a:p>
          <a:p>
            <a:pPr>
              <a:spcBef>
                <a:spcPts val="10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 Black-Box ML &amp; Server Bottlenecks: </a:t>
            </a:r>
            <a:r>
              <a:rPr sz="1400" b="0">
                <a:solidFill>
                  <a:srgbClr val="C3CFC9"/>
                </a:solidFill>
                <a:latin typeface="Aptos"/>
              </a:rPr>
              <a:t>Legacy ML models output raw, unexplainable risk scores without clinical reasoning. Processing raw video on backend servers leads to severe SIGKILL gateway crashes.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8732520"/>
            <a:ext cx="7315200" cy="64008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EB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EB5858"/>
                </a:solidFill>
                <a:latin typeface="Aptos"/>
              </a:defRPr>
            </a:pPr>
            <a:r>
              <a:t>❌ Legacy Dilemma: Fragile hardware, prohibitive cost ($50k+), and uninterpretable black-box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645920"/>
            <a:ext cx="8046720" cy="804672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0" y="1645920"/>
            <a:ext cx="109728" cy="8046720"/>
          </a:xfrm>
          <a:prstGeom prst="round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874519"/>
            <a:ext cx="7406640" cy="667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0C432"/>
                </a:solidFill>
                <a:latin typeface="Aptos"/>
              </a:defRPr>
            </a:pPr>
            <a:r>
              <a:t>THE SIRD PLATFORM ADVANTAGE</a:t>
            </a:r>
          </a:p>
          <a:p>
            <a:pPr>
              <a:spcBef>
                <a:spcPts val="1000"/>
              </a:spcBef>
              <a:defRPr sz="1500" b="1">
                <a:solidFill>
                  <a:srgbClr val="A0C432"/>
                </a:solidFill>
                <a:latin typeface="Aptos"/>
              </a:defRPr>
            </a:pPr>
            <a:r>
              <a:t>•  Client-Side WASM Tracking: </a:t>
            </a:r>
            <a:r>
              <a:rPr sz="1400" b="0">
                <a:solidFill>
                  <a:srgbClr val="C3CFC9"/>
                </a:solidFill>
                <a:latin typeface="Aptos"/>
              </a:rPr>
              <a:t>MediaPipe WebAssembly executes skeletal landmark calculations directly in the athlete's web browser, cutting server processing load to zero and guaranteeing zero-lag video scanning.</a:t>
            </a:r>
          </a:p>
          <a:p>
            <a:pPr>
              <a:spcBef>
                <a:spcPts val="1000"/>
              </a:spcBef>
              <a:defRPr sz="1500" b="1">
                <a:solidFill>
                  <a:srgbClr val="A0C432"/>
                </a:solidFill>
                <a:latin typeface="Aptos"/>
              </a:defRPr>
            </a:pPr>
            <a:r>
              <a:t>•  Lightweight JSON Telemetry Bypass: </a:t>
            </a:r>
            <a:r>
              <a:rPr sz="1400" b="0">
                <a:solidFill>
                  <a:srgbClr val="C3CFC9"/>
                </a:solidFill>
                <a:latin typeface="Aptos"/>
              </a:rPr>
              <a:t>Instead of uploading gigabyte video streams to servers, only 33 joint angle coordinates (&lt;10 KB) are transmitted to the backend API.</a:t>
            </a:r>
          </a:p>
          <a:p>
            <a:pPr>
              <a:spcBef>
                <a:spcPts val="1000"/>
              </a:spcBef>
              <a:defRPr sz="1500" b="1">
                <a:solidFill>
                  <a:srgbClr val="A0C432"/>
                </a:solidFill>
                <a:latin typeface="Aptos"/>
              </a:defRPr>
            </a:pPr>
            <a:r>
              <a:t>•  Explainable AI (XAI) Attribution: </a:t>
            </a:r>
            <a:r>
              <a:rPr sz="1400" b="0">
                <a:solidFill>
                  <a:srgbClr val="C3CFC9"/>
                </a:solidFill>
                <a:latin typeface="Aptos"/>
              </a:rPr>
              <a:t>Translates Random Forest decision trees into transparent clinical rationales (e.g., 'ACL sprain risk driven by 14.2° dynamic knee valgus and stiff landing &lt;30°').</a:t>
            </a:r>
          </a:p>
          <a:p>
            <a:pPr>
              <a:spcBef>
                <a:spcPts val="1000"/>
              </a:spcBef>
              <a:defRPr sz="1500" b="1">
                <a:solidFill>
                  <a:srgbClr val="A0C432"/>
                </a:solidFill>
                <a:latin typeface="Aptos"/>
              </a:defRPr>
            </a:pPr>
            <a:r>
              <a:t>•  Dedicated Multi-Role Workspaces: </a:t>
            </a:r>
            <a:r>
              <a:rPr sz="1400" b="0">
                <a:solidFill>
                  <a:srgbClr val="C3CFC9"/>
                </a:solidFill>
                <a:latin typeface="Aptos"/>
              </a:rPr>
              <a:t>Custom-tailored dashboard interfaces for Athletes (prescriptions &amp; heatmaps), Coaches (roster triage &amp; alerts), and Physiotherapists (longitudinal kinematics).</a:t>
            </a:r>
          </a:p>
          <a:p>
            <a:pPr>
              <a:spcBef>
                <a:spcPts val="1000"/>
              </a:spcBef>
              <a:defRPr sz="1500" b="1">
                <a:solidFill>
                  <a:srgbClr val="A0C432"/>
                </a:solidFill>
                <a:latin typeface="Aptos"/>
              </a:defRPr>
            </a:pPr>
            <a:r>
              <a:t>•  Generative AI Prescription Agent: </a:t>
            </a:r>
            <a:r>
              <a:rPr sz="1400" b="0">
                <a:solidFill>
                  <a:srgbClr val="C3CFC9"/>
                </a:solidFill>
                <a:latin typeface="Aptos"/>
              </a:rPr>
              <a:t>Google Gemini LLM synthesizes fully personalized, adaptive corrective exercise routines with deterministic safety guardrails tailored to the athlete's sport and role.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8732520"/>
            <a:ext cx="7315200" cy="64008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A0C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A0C432"/>
                </a:solidFill>
                <a:latin typeface="Aptos"/>
              </a:defRPr>
            </a:pPr>
            <a:r>
              <a:t>✅ SIRD Solution: Zero hardware cost, 100% browser edge compute, explainable AI &amp; Gemini recovery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4630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4F7F5"/>
                </a:solidFill>
                <a:latin typeface="Aptos"/>
              </a:defRPr>
            </a:pPr>
            <a:r>
              <a:t>System Architecture &amp;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417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A7B3AD"/>
                </a:solidFill>
                <a:latin typeface="Aptos"/>
              </a:defRPr>
            </a:pPr>
            <a:r>
              <a:t>Decoupled 3-tier pipeline routing video from local edge to clinical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0" y="41148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A0C43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5303520" cy="804672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5303520" cy="109728"/>
          </a:xfrm>
          <a:prstGeom prst="round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20240"/>
            <a:ext cx="475488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0C432"/>
                </a:solidFill>
                <a:latin typeface="Aptos"/>
              </a:defRPr>
            </a:pPr>
            <a:r>
              <a:t>TIER 1 • CLIENT EDGE</a:t>
            </a:r>
          </a:p>
          <a:p>
            <a:pPr>
              <a:spcBef>
                <a:spcPts val="400"/>
              </a:spcBef>
              <a:defRPr sz="2000" b="1">
                <a:solidFill>
                  <a:srgbClr val="F4F7F5"/>
                </a:solidFill>
                <a:latin typeface="Aptos"/>
              </a:defRPr>
            </a:pPr>
            <a:r>
              <a:t>React.js + MediaPipe WASM</a:t>
            </a:r>
          </a:p>
          <a:p>
            <a:pPr>
              <a:spcBef>
                <a:spcPts val="600"/>
              </a:spcBef>
              <a:defRPr sz="1300">
                <a:solidFill>
                  <a:srgbClr val="A7B3AD"/>
                </a:solidFill>
                <a:latin typeface="Aptos"/>
              </a:defRPr>
            </a:pPr>
            <a:r>
              <a:t>Captures video and extracts 33 3D skeletal joints locally in-browser.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HTML5 Capture &amp; Viewfinder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Ingests live webcam or uploaded MP4 drills locally.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MediaPipe Tasks Vision WASM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Computes 33 skeletal joint coordinates at 25+ FPS.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In-Browser Kinematic Math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Calculates knee valgus, pelvic tilt, and torso lean.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Zero Video Server Uploads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Cuts server bandwidth to zero and protects athlete privacy.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8823960"/>
            <a:ext cx="4754880" cy="59436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A0C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A0C432"/>
                </a:solidFill>
                <a:latin typeface="Aptos"/>
              </a:defRPr>
            </a:pPr>
            <a:r>
              <a:t>⚡ 25+ FPS Edge Compute • 0ms Upload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5303520" cy="804672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645920"/>
            <a:ext cx="5303520" cy="109728"/>
          </a:xfrm>
          <a:prstGeom prst="roundRect">
            <a:avLst/>
          </a:prstGeom>
          <a:solidFill>
            <a:srgbClr val="4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920240"/>
            <a:ext cx="475488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9EFF"/>
                </a:solidFill>
                <a:latin typeface="Aptos"/>
              </a:defRPr>
            </a:pPr>
            <a:r>
              <a:t>TIER 2 • TELEMETRY API</a:t>
            </a:r>
          </a:p>
          <a:p>
            <a:pPr>
              <a:spcBef>
                <a:spcPts val="400"/>
              </a:spcBef>
              <a:defRPr sz="2000" b="1">
                <a:solidFill>
                  <a:srgbClr val="F4F7F5"/>
                </a:solidFill>
                <a:latin typeface="Aptos"/>
              </a:defRPr>
            </a:pPr>
            <a:r>
              <a:t>FastAPI + MongoDB Atlas</a:t>
            </a:r>
          </a:p>
          <a:p>
            <a:pPr>
              <a:spcBef>
                <a:spcPts val="600"/>
              </a:spcBef>
              <a:defRPr sz="1300">
                <a:solidFill>
                  <a:srgbClr val="A7B3AD"/>
                </a:solidFill>
                <a:latin typeface="Aptos"/>
              </a:defRPr>
            </a:pPr>
            <a:r>
              <a:t>Routes compact JSON telemetry payloads asynchronously with sub-second speed.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Lightweight JSON Payload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Transmits compact joint telemetry (&lt;10 KB) instead of video files.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FastAPI Asynchronous Gateway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Handles request routing and validation in under 0.5s.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MongoDB Atlas &amp; Motor Async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Persists athlete profiles, telemetry records, and alerts.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Live Event Alert Bus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Dispatches dynamic 200ms anomaly notifications to coach dashboards.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8823960"/>
            <a:ext cx="4754880" cy="59436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4C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4C9EFF"/>
                </a:solidFill>
                <a:latin typeface="Aptos"/>
              </a:defRPr>
            </a:pPr>
            <a:r>
              <a:t>📦 &lt;10 KB JSON • &lt;0.5s API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0" y="1645920"/>
            <a:ext cx="5303520" cy="804672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070080" y="1645920"/>
            <a:ext cx="5303520" cy="109728"/>
          </a:xfrm>
          <a:prstGeom prst="roundRect">
            <a:avLst/>
          </a:prstGeom>
          <a:solidFill>
            <a:srgbClr val="F0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0" y="1920240"/>
            <a:ext cx="475488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0BE41"/>
                </a:solidFill>
                <a:latin typeface="Aptos"/>
              </a:defRPr>
            </a:pPr>
            <a:r>
              <a:t>TIER 3 • AI INTELLIGENCE</a:t>
            </a:r>
          </a:p>
          <a:p>
            <a:pPr>
              <a:spcBef>
                <a:spcPts val="400"/>
              </a:spcBef>
              <a:defRPr sz="2000" b="1">
                <a:solidFill>
                  <a:srgbClr val="F4F7F5"/>
                </a:solidFill>
                <a:latin typeface="Aptos"/>
              </a:defRPr>
            </a:pPr>
            <a:r>
              <a:t>ML Ensemble + Gemini LLM</a:t>
            </a:r>
          </a:p>
          <a:p>
            <a:pPr>
              <a:spcBef>
                <a:spcPts val="600"/>
              </a:spcBef>
              <a:defRPr sz="1300">
                <a:solidFill>
                  <a:srgbClr val="A7B3AD"/>
                </a:solidFill>
                <a:latin typeface="Aptos"/>
              </a:defRPr>
            </a:pPr>
            <a:r>
              <a:t>Predicts multi-joint injury risks and synthesizes personalized recovery plans.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6-Model Random Forest Ensemble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Evaluates ACL, hamstring, ankle, shoulder, and back risks.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Isolation Forest Anomaly Engine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Unsupervised detector flags biomechanical movement breakdowns.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Google Gemini Prescription Agent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Generates safe, structured corrective exercise regimens.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ReportLab PDF Exporter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Generates one-click medical summary reports and CSV logs.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0" y="8823960"/>
            <a:ext cx="4754880" cy="59436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F0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F0BE41"/>
                </a:solidFill>
                <a:latin typeface="Aptos"/>
              </a:defRPr>
            </a:pPr>
            <a:r>
              <a:t>🎯 94.2% Accuracy • Automated PDF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4630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4F7F5"/>
                </a:solidFill>
                <a:latin typeface="Aptos"/>
              </a:defRPr>
            </a:pPr>
            <a:r>
              <a:t>Machine Learning &amp; Risk Scoring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417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A7B3AD"/>
                </a:solidFill>
                <a:latin typeface="Aptos"/>
              </a:defRPr>
            </a:pPr>
            <a:r>
              <a:t>Hybrid ensemble architecture combining supervised classification, anomaly detection, and clinical weighting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0" y="41148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A0C43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8046720" cy="393192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9728" cy="3931920"/>
          </a:xfrm>
          <a:prstGeom prst="round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7406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0C432"/>
                </a:solidFill>
                <a:latin typeface="Aptos"/>
              </a:defRPr>
            </a:pPr>
            <a:r>
              <a:t>1. RANDOM FOREST ENSEMBLE CLASSIFIERS</a:t>
            </a:r>
          </a:p>
          <a:p>
            <a:pPr>
              <a:spcBef>
                <a:spcPts val="800"/>
              </a:spcBef>
              <a:defRPr sz="1400" b="1">
                <a:solidFill>
                  <a:srgbClr val="F4F7F5"/>
                </a:solidFill>
                <a:latin typeface="Aptos"/>
              </a:defRPr>
            </a:pPr>
            <a:r>
              <a:t>•  6 Targeted Vulnerability Classifiers: </a:t>
            </a:r>
            <a:r>
              <a:rPr sz="1300" b="0">
                <a:solidFill>
                  <a:srgbClr val="C3CFC9"/>
                </a:solidFill>
                <a:latin typeface="Aptos"/>
              </a:rPr>
              <a:t>Predicts specific injury risks: ACL tear, Hamstring strain, Ankle sprain, Shoulder impingement, Lumbar back pain, and Overuse injury.</a:t>
            </a:r>
          </a:p>
          <a:p>
            <a:pPr>
              <a:spcBef>
                <a:spcPts val="800"/>
              </a:spcBef>
              <a:defRPr sz="1400" b="1">
                <a:solidFill>
                  <a:srgbClr val="F4F7F5"/>
                </a:solidFill>
                <a:latin typeface="Aptos"/>
              </a:defRPr>
            </a:pPr>
            <a:r>
              <a:t>•  10,000+ Kinematic Data Points: </a:t>
            </a:r>
            <a:r>
              <a:rPr sz="1300" b="0">
                <a:solidFill>
                  <a:srgbClr val="C3CFC9"/>
                </a:solidFill>
                <a:latin typeface="Aptos"/>
              </a:rPr>
              <a:t>Models trained and cross-validated across high-velocity athletic movements with rigorous kinematic feature extraction.</a:t>
            </a:r>
          </a:p>
          <a:p>
            <a:pPr>
              <a:spcBef>
                <a:spcPts val="800"/>
              </a:spcBef>
              <a:defRPr sz="1400" b="1">
                <a:solidFill>
                  <a:srgbClr val="F4F7F5"/>
                </a:solidFill>
                <a:latin typeface="Aptos"/>
              </a:defRPr>
            </a:pPr>
            <a:r>
              <a:t>•  Explainable Threshold Bounds: </a:t>
            </a:r>
            <a:r>
              <a:rPr sz="1300" b="0">
                <a:solidFill>
                  <a:srgbClr val="C3CFC9"/>
                </a:solidFill>
                <a:latin typeface="Aptos"/>
              </a:rPr>
              <a:t>Maps clinical criteria: Dynamic knee valgus &gt;15° flags critical ACL risk; stiff landing flexion &lt;30° indicates shock absorption failure.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645920"/>
            <a:ext cx="8046720" cy="393192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0" y="1645920"/>
            <a:ext cx="109728" cy="3931920"/>
          </a:xfrm>
          <a:prstGeom prst="roundRect">
            <a:avLst/>
          </a:prstGeom>
          <a:solidFill>
            <a:srgbClr val="4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1828800"/>
            <a:ext cx="7406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C9EFF"/>
                </a:solidFill>
                <a:latin typeface="Aptos"/>
              </a:defRPr>
            </a:pPr>
            <a:r>
              <a:t>2. UNSUPERVISED ISOLATION FOREST ANOMALY ENGINE</a:t>
            </a:r>
          </a:p>
          <a:p>
            <a:pPr>
              <a:spcBef>
                <a:spcPts val="800"/>
              </a:spcBef>
              <a:defRPr sz="1400" b="1">
                <a:solidFill>
                  <a:srgbClr val="F4F7F5"/>
                </a:solidFill>
                <a:latin typeface="Aptos"/>
              </a:defRPr>
            </a:pPr>
            <a:r>
              <a:t>•  Unsupervised Outlier Detection: </a:t>
            </a:r>
            <a:r>
              <a:rPr sz="1300" b="0">
                <a:solidFill>
                  <a:srgbClr val="C3CFC9"/>
                </a:solidFill>
                <a:latin typeface="Aptos"/>
              </a:rPr>
              <a:t>Detects atypical motion signatures and technique breakdowns without requiring pre-labeled injury incident samples.</a:t>
            </a:r>
          </a:p>
          <a:p>
            <a:pPr>
              <a:spcBef>
                <a:spcPts val="800"/>
              </a:spcBef>
              <a:defRPr sz="1400" b="1">
                <a:solidFill>
                  <a:srgbClr val="F4F7F5"/>
                </a:solidFill>
                <a:latin typeface="Aptos"/>
              </a:defRPr>
            </a:pPr>
            <a:r>
              <a:t>•  Kinetic Form Collapse Detection: </a:t>
            </a:r>
            <a:r>
              <a:rPr sz="1300" b="0">
                <a:solidFill>
                  <a:srgbClr val="C3CFC9"/>
                </a:solidFill>
                <a:latin typeface="Aptos"/>
              </a:rPr>
              <a:t>Flags sudden form collapse, excessive torso lean, unilateral loading bias, and erratic joint deceleration spikes.</a:t>
            </a:r>
          </a:p>
          <a:p>
            <a:pPr>
              <a:spcBef>
                <a:spcPts val="800"/>
              </a:spcBef>
              <a:defRPr sz="1400" b="1">
                <a:solidFill>
                  <a:srgbClr val="F4F7F5"/>
                </a:solidFill>
                <a:latin typeface="Aptos"/>
              </a:defRPr>
            </a:pPr>
            <a:r>
              <a:t>•  Real-Time Confidence Scoring: </a:t>
            </a:r>
            <a:r>
              <a:rPr sz="1300" b="0">
                <a:solidFill>
                  <a:srgbClr val="C3CFC9"/>
                </a:solidFill>
                <a:latin typeface="Aptos"/>
              </a:rPr>
              <a:t>Outputs an anomaly contamination score (0.0 to 1.0) dynamically informing topbar alerts and urgent coach notifications.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60720"/>
            <a:ext cx="16459200" cy="393192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5760720"/>
            <a:ext cx="109728" cy="3931920"/>
          </a:xfrm>
          <a:prstGeom prst="roundRect">
            <a:avLst/>
          </a:prstGeom>
          <a:solidFill>
            <a:srgbClr val="F0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5943600"/>
            <a:ext cx="15727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0BE41"/>
                </a:solidFill>
                <a:latin typeface="Aptos"/>
              </a:defRPr>
            </a:pPr>
            <a:r>
              <a:t>3. HOLISTIC 5-FACTOR CLINICAL RISK SCORING FORMULA</a:t>
            </a:r>
          </a:p>
          <a:p>
            <a:pPr>
              <a:spcBef>
                <a:spcPts val="800"/>
              </a:spcBef>
              <a:defRPr sz="2000" b="1">
                <a:solidFill>
                  <a:srgbClr val="F4F7F5"/>
                </a:solidFill>
                <a:latin typeface="Aptos"/>
              </a:defRPr>
            </a:pPr>
            <a:r>
              <a:t>Overall Injury Risk = 35%(Biomechanics) + 20%(Injury History) + 20%(Asymmetry) + 15%(Workload) + 10%(Fatigue)</a:t>
            </a:r>
          </a:p>
          <a:p>
            <a:pPr>
              <a:spcBef>
                <a:spcPts val="600"/>
              </a:spcBef>
              <a:defRPr sz="1400" b="1">
                <a:solidFill>
                  <a:srgbClr val="F0BE41"/>
                </a:solidFill>
                <a:latin typeface="Aptos"/>
              </a:defRPr>
            </a:pPr>
            <a:r>
              <a:t>•  35% Live Biomechanics: </a:t>
            </a:r>
            <a:r>
              <a:rPr sz="1300" b="0">
                <a:solidFill>
                  <a:srgbClr val="C3CFC9"/>
                </a:solidFill>
                <a:latin typeface="Aptos"/>
              </a:rPr>
              <a:t>Dynamic joint angles, angular velocities, valgus collapse, and landing mechanics extracted from video.</a:t>
            </a:r>
          </a:p>
          <a:p>
            <a:pPr>
              <a:spcBef>
                <a:spcPts val="600"/>
              </a:spcBef>
              <a:defRPr sz="1400" b="1">
                <a:solidFill>
                  <a:srgbClr val="F0BE41"/>
                </a:solidFill>
                <a:latin typeface="Aptos"/>
              </a:defRPr>
            </a:pPr>
            <a:r>
              <a:t>•  20% Injury History: </a:t>
            </a:r>
            <a:r>
              <a:rPr sz="1300" b="0">
                <a:solidFill>
                  <a:srgbClr val="C3CFC9"/>
                </a:solidFill>
                <a:latin typeface="Aptos"/>
              </a:rPr>
              <a:t>Past medical records, prior ligament tears, joint surgeries, and recurrence vulnerabilities.</a:t>
            </a:r>
          </a:p>
          <a:p>
            <a:pPr>
              <a:spcBef>
                <a:spcPts val="600"/>
              </a:spcBef>
              <a:defRPr sz="1400" b="1">
                <a:solidFill>
                  <a:srgbClr val="F0BE41"/>
                </a:solidFill>
                <a:latin typeface="Aptos"/>
              </a:defRPr>
            </a:pPr>
            <a:r>
              <a:t>•  20% Bilateral Asymmetry: </a:t>
            </a:r>
            <a:r>
              <a:rPr sz="1300" b="0">
                <a:solidFill>
                  <a:srgbClr val="C3CFC9"/>
                </a:solidFill>
                <a:latin typeface="Aptos"/>
              </a:rPr>
              <a:t>Differential loading between left and right limbs during unilateral planting and bilateral landing.</a:t>
            </a:r>
          </a:p>
          <a:p>
            <a:pPr>
              <a:spcBef>
                <a:spcPts val="600"/>
              </a:spcBef>
              <a:defRPr sz="1400" b="1">
                <a:solidFill>
                  <a:srgbClr val="F0BE41"/>
                </a:solidFill>
                <a:latin typeface="Aptos"/>
              </a:defRPr>
            </a:pPr>
            <a:r>
              <a:t>•  15% Acute-to-Chronic Load: </a:t>
            </a:r>
            <a:r>
              <a:rPr sz="1300" b="0">
                <a:solidFill>
                  <a:srgbClr val="C3CFC9"/>
                </a:solidFill>
                <a:latin typeface="Aptos"/>
              </a:rPr>
              <a:t>Cumulative training volume, weekly session intensity, and sprint jump count metrics.</a:t>
            </a:r>
          </a:p>
          <a:p>
            <a:pPr>
              <a:spcBef>
                <a:spcPts val="600"/>
              </a:spcBef>
              <a:defRPr sz="1400" b="1">
                <a:solidFill>
                  <a:srgbClr val="F0BE41"/>
                </a:solidFill>
                <a:latin typeface="Aptos"/>
              </a:defRPr>
            </a:pPr>
            <a:r>
              <a:t>•  10% Athlete Fatigue Index: </a:t>
            </a:r>
            <a:r>
              <a:rPr sz="1300" b="0">
                <a:solidFill>
                  <a:srgbClr val="C3CFC9"/>
                </a:solidFill>
                <a:latin typeface="Aptos"/>
              </a:rPr>
              <a:t>Session duration, perceived exertion metrics, and late-session kinetic deceleration degradation.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4630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4F7F5"/>
                </a:solidFill>
                <a:latin typeface="Aptos"/>
              </a:defRPr>
            </a:pPr>
            <a:r>
              <a:t>Technology Stack &amp; Core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417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A7B3AD"/>
                </a:solidFill>
                <a:latin typeface="Aptos"/>
              </a:defRPr>
            </a:pPr>
            <a:r>
              <a:t>Modern, decoupled technologies built for client-side speed, resilience, and horizontal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0" y="41148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A0C43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3931920" cy="804672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3931920" cy="109728"/>
          </a:xfrm>
          <a:prstGeom prst="round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3474720" cy="667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0C432"/>
                </a:solidFill>
                <a:latin typeface="Aptos"/>
              </a:defRPr>
            </a:pPr>
            <a:r>
              <a:t>FRONTEND &amp; EDGE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React.js &amp; Vite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High-performance reactive user interface shell with rapid hot module reloading and lightweight bundle footprint.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HTML5 Canvas API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Draws live skeletal overlays, joint node coordinates, and kinematic vector lines at 25+ FPS.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MediaPipe Tasks Vision WASM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Static CDN WebAssembly bundle calculating 33 3D skeletal landmarks locally in the browser.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Tailwind CSS UI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Responsive, dark-themed clinical dashboard interface with role-tailored navigation.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8823960"/>
            <a:ext cx="3474720" cy="59436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A0C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A0C432"/>
                </a:solidFill>
                <a:latin typeface="Aptos"/>
              </a:defRPr>
            </a:pPr>
            <a:r>
              <a:t>⚡ Zero Server Load • 25+ FPS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645920"/>
            <a:ext cx="3931920" cy="804672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1645920"/>
            <a:ext cx="3931920" cy="109728"/>
          </a:xfrm>
          <a:prstGeom prst="roundRect">
            <a:avLst/>
          </a:prstGeom>
          <a:solidFill>
            <a:srgbClr val="4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920240"/>
            <a:ext cx="3474720" cy="667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C9EFF"/>
                </a:solidFill>
                <a:latin typeface="Aptos"/>
              </a:defRPr>
            </a:pPr>
            <a:r>
              <a:t>BACKEND API CORE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Python 3.11+ &amp; FastAPI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Asynchronous high-throughput REST API routing telemetry, authentication, and clinical reports.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Pydantic V2 Schemas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Strict typing and deterministic data validation for incoming joint angles and athlete profiles.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Uvicorn ASGI Server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Ultra-fast asynchronous server engine handling concurrent requests without thread blocking.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JWT Security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Role-based access tokens separating athlete, coach, and clinician authorization levels.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8823960"/>
            <a:ext cx="3474720" cy="59436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4C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4C9EFF"/>
                </a:solidFill>
                <a:latin typeface="Aptos"/>
              </a:defRPr>
            </a:pPr>
            <a:r>
              <a:t>🚀 Async Non-Blocking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645920"/>
            <a:ext cx="3931920" cy="804672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1645920"/>
            <a:ext cx="3931920" cy="109728"/>
          </a:xfrm>
          <a:prstGeom prst="roundRect">
            <a:avLst/>
          </a:prstGeom>
          <a:solidFill>
            <a:srgbClr val="F0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1920240"/>
            <a:ext cx="3474720" cy="667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BE41"/>
                </a:solidFill>
                <a:latin typeface="Aptos"/>
              </a:defRPr>
            </a:pPr>
            <a:r>
              <a:t>DATABASE &amp; STORAGE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MongoDB Atlas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Cloud NoSQL document store hosting athlete records, historical telemetry scans, and notifications.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Motor Async Driver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Non-blocking asynchronous Python driver maintaining high throughput under concurrent load.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Dynamic Schema Indexing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Rapid longitudinal query lookups across training dates, injury types, and squad rosters.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Automated Cloud Backups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Secure, encrypted at rest, and highly available multi-region database clustering.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8823960"/>
            <a:ext cx="3474720" cy="59436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F0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F0BE41"/>
                </a:solidFill>
                <a:latin typeface="Aptos"/>
              </a:defRPr>
            </a:pPr>
            <a:r>
              <a:t>☁️ Scalable Cloud NoSQL Store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95960" y="1645920"/>
            <a:ext cx="3931920" cy="804672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395960" y="1645920"/>
            <a:ext cx="3931920" cy="109728"/>
          </a:xfrm>
          <a:prstGeom prst="roundRect">
            <a:avLst/>
          </a:prstGeom>
          <a:solidFill>
            <a:srgbClr val="EB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624560" y="1920240"/>
            <a:ext cx="3474720" cy="667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B5858"/>
                </a:solidFill>
                <a:latin typeface="Aptos"/>
              </a:defRPr>
            </a:pPr>
            <a:r>
              <a:t>ML &amp; GENERATIVE AI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Scikit-Learn Classifiers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Trained Random Forest ensemble and Isolation Forest anomaly detection engines.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Google Gemini LLM API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Generative AI agent synthesizing personalized, clinically safe corrective exercise routines.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ReportLab Engine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Dynamic generator producing downloadable, professional PDF medical summaries on demand.</a:t>
            </a:r>
          </a:p>
          <a:p>
            <a:pPr>
              <a:spcBef>
                <a:spcPts val="14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NumPy &amp; SciPy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Vectorized trigonometric angle calculations and kinematic data smoothing routines.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24560" y="8823960"/>
            <a:ext cx="3474720" cy="59436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EB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EB5858"/>
                </a:solidFill>
                <a:latin typeface="Aptos"/>
              </a:defRPr>
            </a:pPr>
            <a:r>
              <a:t>🧠 Hybrid Deterministic + GenAI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4630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4F7F5"/>
                </a:solidFill>
                <a:latin typeface="Aptos"/>
              </a:defRPr>
            </a:pPr>
            <a:r>
              <a:t>Project Demo &amp;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417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A7B3AD"/>
                </a:solidFill>
                <a:latin typeface="Aptos"/>
              </a:defRPr>
            </a:pPr>
            <a:r>
              <a:t>Four-phase end-to-end user experience and data lifecycle during a movement 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0" y="41148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A0C43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3931920" cy="804672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3931920" cy="109728"/>
          </a:xfrm>
          <a:prstGeom prst="round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3474720" cy="667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0C432"/>
                </a:solidFill>
                <a:latin typeface="Aptos"/>
              </a:defRPr>
            </a:pPr>
            <a:r>
              <a:t>PHASE 01</a:t>
            </a:r>
          </a:p>
          <a:p>
            <a:pPr>
              <a:spcBef>
                <a:spcPts val="400"/>
              </a:spcBef>
              <a:defRPr sz="1900" b="1">
                <a:solidFill>
                  <a:srgbClr val="F4F7F5"/>
                </a:solidFill>
                <a:latin typeface="Aptos"/>
              </a:defRPr>
            </a:pPr>
            <a:r>
              <a:t>Motion Video Capture</a:t>
            </a:r>
          </a:p>
          <a:p>
            <a:pPr>
              <a:spcBef>
                <a:spcPts val="800"/>
              </a:spcBef>
              <a:defRPr sz="1300">
                <a:solidFill>
                  <a:srgbClr val="A7B3AD"/>
                </a:solidFill>
                <a:latin typeface="Aptos"/>
              </a:defRPr>
            </a:pPr>
            <a:r>
              <a:t>Athlete or coach launches the HTML5 recording viewfinder or selects an existing athletic video file.</a:t>
            </a:r>
          </a:p>
          <a:p>
            <a:pPr>
              <a:spcBef>
                <a:spcPts val="14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•  Supports standard MP4/WebM uploads or live webcam recording.</a:t>
            </a:r>
          </a:p>
          <a:p>
            <a:pPr>
              <a:spcBef>
                <a:spcPts val="14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•  Focuses on functional movements: squats, jumps, landing drills, and sprints.</a:t>
            </a:r>
          </a:p>
          <a:p>
            <a:pPr>
              <a:spcBef>
                <a:spcPts val="14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•  Markerless capture: no wearable sensors, calibration suits, or lab gear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8823960"/>
            <a:ext cx="3474720" cy="59436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A0C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A0C432"/>
                </a:solidFill>
                <a:latin typeface="Aptos"/>
              </a:defRPr>
            </a:pPr>
            <a:r>
              <a:t>📹 MP4 / Live Webcam Feed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645920"/>
            <a:ext cx="3931920" cy="804672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1645920"/>
            <a:ext cx="3931920" cy="109728"/>
          </a:xfrm>
          <a:prstGeom prst="roundRect">
            <a:avLst/>
          </a:prstGeom>
          <a:solidFill>
            <a:srgbClr val="4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920240"/>
            <a:ext cx="3474720" cy="667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9EFF"/>
                </a:solidFill>
                <a:latin typeface="Aptos"/>
              </a:defRPr>
            </a:pPr>
            <a:r>
              <a:t>PHASE 02</a:t>
            </a:r>
          </a:p>
          <a:p>
            <a:pPr>
              <a:spcBef>
                <a:spcPts val="400"/>
              </a:spcBef>
              <a:defRPr sz="1900" b="1">
                <a:solidFill>
                  <a:srgbClr val="F4F7F5"/>
                </a:solidFill>
                <a:latin typeface="Aptos"/>
              </a:defRPr>
            </a:pPr>
            <a:r>
              <a:t>WASM Pose Extraction</a:t>
            </a:r>
          </a:p>
          <a:p>
            <a:pPr>
              <a:spcBef>
                <a:spcPts val="800"/>
              </a:spcBef>
              <a:defRPr sz="1300">
                <a:solidFill>
                  <a:srgbClr val="A7B3AD"/>
                </a:solidFill>
                <a:latin typeface="Aptos"/>
              </a:defRPr>
            </a:pPr>
            <a:r>
              <a:t>Browser loops video frames and extracts 33 3D skeletal landmarks locally in WebAssembly.</a:t>
            </a:r>
          </a:p>
          <a:p>
            <a:pPr>
              <a:spcBef>
                <a:spcPts val="14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•  Client-side processing at 25+ FPS with live skeletal wireframe overlay.</a:t>
            </a:r>
          </a:p>
          <a:p>
            <a:pPr>
              <a:spcBef>
                <a:spcPts val="14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•  Computes real-time dynamic joint angles: knee valgus, pelvic tilt, torso lean.</a:t>
            </a:r>
          </a:p>
          <a:p>
            <a:pPr>
              <a:spcBef>
                <a:spcPts val="14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•  Visual progress bar tracks scan completion from 0% to 100% locally.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8823960"/>
            <a:ext cx="3474720" cy="59436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4C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4C9EFF"/>
                </a:solidFill>
                <a:latin typeface="Aptos"/>
              </a:defRPr>
            </a:pPr>
            <a:r>
              <a:t>🦴 33 Keypoints • 25+ FPS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645920"/>
            <a:ext cx="3931920" cy="804672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1645920"/>
            <a:ext cx="3931920" cy="109728"/>
          </a:xfrm>
          <a:prstGeom prst="roundRect">
            <a:avLst/>
          </a:prstGeom>
          <a:solidFill>
            <a:srgbClr val="F0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1920240"/>
            <a:ext cx="3474720" cy="667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0BE41"/>
                </a:solidFill>
                <a:latin typeface="Aptos"/>
              </a:defRPr>
            </a:pPr>
            <a:r>
              <a:t>PHASE 03</a:t>
            </a:r>
          </a:p>
          <a:p>
            <a:pPr>
              <a:spcBef>
                <a:spcPts val="400"/>
              </a:spcBef>
              <a:defRPr sz="1900" b="1">
                <a:solidFill>
                  <a:srgbClr val="F4F7F5"/>
                </a:solidFill>
                <a:latin typeface="Aptos"/>
              </a:defRPr>
            </a:pPr>
            <a:r>
              <a:t>Telemetry Processing</a:t>
            </a:r>
          </a:p>
          <a:p>
            <a:pPr>
              <a:spcBef>
                <a:spcPts val="800"/>
              </a:spcBef>
              <a:defRPr sz="1300">
                <a:solidFill>
                  <a:srgbClr val="A7B3AD"/>
                </a:solidFill>
                <a:latin typeface="Aptos"/>
              </a:defRPr>
            </a:pPr>
            <a:r>
              <a:t>Micro JSON telemetry payload is posted to FastAPI backend for instant AI scoring.</a:t>
            </a:r>
          </a:p>
          <a:p>
            <a:pPr>
              <a:spcBef>
                <a:spcPts val="14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•  Random Forest ensemble scores ACL, hamstring, ankle, and shoulder risk in &lt;0.5s.</a:t>
            </a:r>
          </a:p>
          <a:p>
            <a:pPr>
              <a:spcBef>
                <a:spcPts val="14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•  Isolation Forest scans for form collapses and biomechanical anomalies.</a:t>
            </a:r>
          </a:p>
          <a:p>
            <a:pPr>
              <a:spcBef>
                <a:spcPts val="14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•  Holistic 5-factor clinical formula computes overall athlete injury vulnerability.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8823960"/>
            <a:ext cx="3474720" cy="59436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F0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F0BE41"/>
                </a:solidFill>
                <a:latin typeface="Aptos"/>
              </a:defRPr>
            </a:pPr>
            <a:r>
              <a:t>⚡ &lt;0.5s Multi-Model Scoring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95960" y="1645920"/>
            <a:ext cx="3931920" cy="804672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395960" y="1645920"/>
            <a:ext cx="3931920" cy="109728"/>
          </a:xfrm>
          <a:prstGeom prst="roundRect">
            <a:avLst/>
          </a:prstGeom>
          <a:solidFill>
            <a:srgbClr val="EB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624560" y="1920240"/>
            <a:ext cx="3474720" cy="667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B5858"/>
                </a:solidFill>
                <a:latin typeface="Aptos"/>
              </a:defRPr>
            </a:pPr>
            <a:r>
              <a:t>PHASE 04</a:t>
            </a:r>
          </a:p>
          <a:p>
            <a:pPr>
              <a:spcBef>
                <a:spcPts val="400"/>
              </a:spcBef>
              <a:defRPr sz="1900" b="1">
                <a:solidFill>
                  <a:srgbClr val="F4F7F5"/>
                </a:solidFill>
                <a:latin typeface="Aptos"/>
              </a:defRPr>
            </a:pPr>
            <a:r>
              <a:t>Prescription &amp; Render</a:t>
            </a:r>
          </a:p>
          <a:p>
            <a:pPr>
              <a:spcBef>
                <a:spcPts val="800"/>
              </a:spcBef>
              <a:defRPr sz="1300">
                <a:solidFill>
                  <a:srgbClr val="A7B3AD"/>
                </a:solidFill>
                <a:latin typeface="Aptos"/>
              </a:defRPr>
            </a:pPr>
            <a:r>
              <a:t>Google Gemini AI synthesizes corrective routines and dashboard populates instantly.</a:t>
            </a:r>
          </a:p>
          <a:p>
            <a:pPr>
              <a:spcBef>
                <a:spcPts val="14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•  Gemini agent outputs adaptive exercise prescriptions with clinical guardrails.</a:t>
            </a:r>
          </a:p>
          <a:p>
            <a:pPr>
              <a:spcBef>
                <a:spcPts val="14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•  Interactive joint risk heatmaps, XAI rationale cards, and alert badges render live.</a:t>
            </a:r>
          </a:p>
          <a:p>
            <a:pPr>
              <a:spcBef>
                <a:spcPts val="14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•  One-click export generates comprehensive medical PDF reports and CSV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24560" y="8823960"/>
            <a:ext cx="3474720" cy="594360"/>
          </a:xfrm>
          <a:prstGeom prst="roundRect">
            <a:avLst/>
          </a:prstGeom>
          <a:solidFill>
            <a:srgbClr val="19241F"/>
          </a:solidFill>
          <a:ln w="12700">
            <a:solidFill>
              <a:srgbClr val="EB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defRPr sz="1300" b="1">
                <a:solidFill>
                  <a:srgbClr val="EB5858"/>
                </a:solidFill>
                <a:latin typeface="Aptos"/>
              </a:defRPr>
            </a:pPr>
            <a:r>
              <a:t>📋 Heatmaps + Gemini Regimens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4630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4F7F5"/>
                </a:solidFill>
                <a:latin typeface="Aptos"/>
              </a:defRPr>
            </a:pPr>
            <a:r>
              <a:t>UI/UX Design &amp; Dashboard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417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A7B3AD"/>
                </a:solidFill>
                <a:latin typeface="Aptos"/>
              </a:defRPr>
            </a:pPr>
            <a:r>
              <a:t>Production application screens: Portal onboarding, coach triage, athlete profiles, and live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0" y="41148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A0C43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8046720" cy="384048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9728" cy="3840480"/>
          </a:xfrm>
          <a:prstGeom prst="round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55648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0C432"/>
                </a:solidFill>
                <a:latin typeface="Aptos"/>
              </a:defRPr>
            </a:pPr>
            <a:r>
              <a:t>01. LANDING PAGE &amp; PORTAL NAVIGATION</a:t>
            </a: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148840"/>
            <a:ext cx="7498080" cy="3200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326880" y="1645920"/>
            <a:ext cx="8046720" cy="384048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0" y="1645920"/>
            <a:ext cx="109728" cy="3840480"/>
          </a:xfrm>
          <a:prstGeom prst="roundRect">
            <a:avLst/>
          </a:prstGeom>
          <a:solidFill>
            <a:srgbClr val="4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1755648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9EFF"/>
                </a:solidFill>
                <a:latin typeface="Aptos"/>
              </a:defRPr>
            </a:pPr>
            <a:r>
              <a:t>02. COACH &amp; CLINICIAN DASHBOARD</a:t>
            </a:r>
          </a:p>
        </p:txBody>
      </p:sp>
      <p:pic>
        <p:nvPicPr>
          <p:cNvPr id="13" name="Picture 1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148840"/>
            <a:ext cx="7498080" cy="32004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14400" y="5760720"/>
            <a:ext cx="8046720" cy="384048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5760720"/>
            <a:ext cx="109728" cy="3840480"/>
          </a:xfrm>
          <a:prstGeom prst="roundRect">
            <a:avLst/>
          </a:prstGeom>
          <a:solidFill>
            <a:srgbClr val="F0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870448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0BE41"/>
                </a:solidFill>
                <a:latin typeface="Aptos"/>
              </a:defRPr>
            </a:pPr>
            <a:r>
              <a:t>03. ATHLETE MANAGEMENT &amp; PROFILES</a:t>
            </a:r>
          </a:p>
        </p:txBody>
      </p:sp>
      <p:pic>
        <p:nvPicPr>
          <p:cNvPr id="17" name="Picture 16" descr="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6263640"/>
            <a:ext cx="7498080" cy="32004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326880" y="5760720"/>
            <a:ext cx="8046720" cy="384048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0" y="5760720"/>
            <a:ext cx="109728" cy="3840480"/>
          </a:xfrm>
          <a:prstGeom prst="roundRect">
            <a:avLst/>
          </a:prstGeom>
          <a:solidFill>
            <a:srgbClr val="EB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5870448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B5858"/>
                </a:solidFill>
                <a:latin typeface="Aptos"/>
              </a:defRPr>
            </a:pPr>
            <a:r>
              <a:t>04. VIDEO UPLOAD &amp; REAL-TIME TELEMETRY</a:t>
            </a:r>
          </a:p>
        </p:txBody>
      </p:sp>
      <p:pic>
        <p:nvPicPr>
          <p:cNvPr id="21" name="Picture 20" descr="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6263640"/>
            <a:ext cx="74980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91440"/>
          </a:xfrm>
          <a:prstGeom prst="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4630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4F7F5"/>
                </a:solidFill>
                <a:latin typeface="Aptos"/>
              </a:defRPr>
            </a:pPr>
            <a:r>
              <a:t>Results, Operational Metrics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417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A7B3AD"/>
                </a:solidFill>
                <a:latin typeface="Aptos"/>
              </a:defRPr>
            </a:pPr>
            <a:r>
              <a:t>Model validation benchmarks, zero-crash operational reliability, and future clinical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0" y="411480"/>
            <a:ext cx="1371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A0C43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8046720" cy="658368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9728" cy="6583680"/>
          </a:xfrm>
          <a:prstGeom prst="roundRect">
            <a:avLst/>
          </a:prstGeom>
          <a:solidFill>
            <a:srgbClr val="A0C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740664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0C432"/>
                </a:solidFill>
                <a:latin typeface="Aptos"/>
              </a:defRPr>
            </a:pPr>
            <a:r>
              <a:t>MODEL ACCURACY &amp; OPERATIONAL RELIABILITY</a:t>
            </a:r>
          </a:p>
          <a:p>
            <a:pPr>
              <a:spcBef>
                <a:spcPts val="8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 94.2% ACL Injury Risk Accuracy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   Model trained on 10,000+ kinematic data rows predicts ACL tears and high-risk dynamic knee valgus collapses with high precision.</a:t>
            </a:r>
          </a:p>
          <a:p>
            <a:pPr>
              <a:spcBef>
                <a:spcPts val="8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 92.8% Hamstring Risk Accuracy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   Accurately maps force imbalances, eccentric loading irregularities, and knee flexion loading anomalies during sprinting and cutting.</a:t>
            </a:r>
          </a:p>
          <a:p>
            <a:pPr>
              <a:spcBef>
                <a:spcPts val="8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 Sub-Second API Response (&lt;0.5s)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   FastAPI executes multi-model ML inference and anomaly checks in under 0.5s via lightweight JSON telemetry bypass.</a:t>
            </a:r>
          </a:p>
          <a:p>
            <a:pPr>
              <a:spcBef>
                <a:spcPts val="8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 Zero Server-Side SIGKILL Crashes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   Bypassing server video decoding and running MediaPipe in-browser keeps cloud backend RAM permanently below 30MB.</a:t>
            </a:r>
          </a:p>
          <a:p>
            <a:pPr>
              <a:spcBef>
                <a:spcPts val="8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 200ms Notification &amp; 1-Click Export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   High-risk form breakdowns trigger dynamic alert badges in 200ms; instant one-click ReportLab PDF medical summaries and CSV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645920"/>
            <a:ext cx="8046720" cy="658368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0" y="1645920"/>
            <a:ext cx="109728" cy="6583680"/>
          </a:xfrm>
          <a:prstGeom prst="roundRect">
            <a:avLst/>
          </a:prstGeom>
          <a:solidFill>
            <a:srgbClr val="4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1828800"/>
            <a:ext cx="740664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C9EFF"/>
                </a:solidFill>
                <a:latin typeface="Aptos"/>
              </a:defRPr>
            </a:pPr>
            <a:r>
              <a:t>FUTURE SCOPE &amp; CLINICAL HORIZONS</a:t>
            </a:r>
          </a:p>
          <a:p>
            <a:pPr>
              <a:spcBef>
                <a:spcPts val="10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 Multi-Modal Wearable Sensor Fusion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   Integrate wearable IMU accelerometers and sEMG muscle activation sensor telemetry alongside computer vision coordinates for sub-millisecond dynamic tracking and impact estimation.</a:t>
            </a:r>
          </a:p>
          <a:p>
            <a:pPr>
              <a:spcBef>
                <a:spcPts val="10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 Dynamic 3D Kinematic Avatar Rendering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   Deploy interactive Three.js / WebGL dynamic skeletal avatars in the coach dashboard to visualize multi-planar joint stress vectors from 360-degree viewpoints.</a:t>
            </a:r>
          </a:p>
          <a:p>
            <a:pPr>
              <a:spcBef>
                <a:spcPts val="10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 LSTM Predictive Recovery Modeling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   Deploy deep learning time-series neural networks (LSTM/GRU) to forecast athlete rehabilitation recovery curves and compute return-to-play readiness indexes.</a:t>
            </a:r>
          </a:p>
          <a:p>
            <a:pPr>
              <a:spcBef>
                <a:spcPts val="1000"/>
              </a:spcBef>
              <a:defRPr sz="1500" b="1">
                <a:solidFill>
                  <a:srgbClr val="F4F7F5"/>
                </a:solidFill>
                <a:latin typeface="Aptos"/>
              </a:defRPr>
            </a:pPr>
            <a:r>
              <a:t>•  Sport-Specific Biomechanical Modules</a:t>
            </a:r>
          </a:p>
          <a:p>
            <a:pPr>
              <a:spcBef>
                <a:spcPts val="200"/>
              </a:spcBef>
              <a:defRPr sz="1300">
                <a:solidFill>
                  <a:srgbClr val="C3CFC9"/>
                </a:solidFill>
                <a:latin typeface="Aptos"/>
              </a:defRPr>
            </a:pPr>
            <a:r>
              <a:t>   Expand kinematic rule bases for specialized sport disciplines: soccer cutting drills, basketball landing impacts, and cricket bowling mechanics.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8412480"/>
            <a:ext cx="16459200" cy="1280160"/>
          </a:xfrm>
          <a:prstGeom prst="roundRect">
            <a:avLst/>
          </a:prstGeom>
          <a:solidFill>
            <a:srgbClr val="121916"/>
          </a:solidFill>
          <a:ln w="19050">
            <a:solidFill>
              <a:srgbClr val="23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8412480"/>
            <a:ext cx="109728" cy="1280160"/>
          </a:xfrm>
          <a:prstGeom prst="roundRect">
            <a:avLst/>
          </a:prstGeom>
          <a:solidFill>
            <a:srgbClr val="F0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8503920"/>
            <a:ext cx="1572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0BE41"/>
                </a:solidFill>
                <a:latin typeface="Aptos"/>
              </a:defRPr>
            </a:pPr>
            <a:r>
              <a:t>Sports Injury Risk Detection System (SIRD)  •  Presented by Iqra Khan  •  Questions &amp; Discussion</a:t>
            </a:r>
          </a:p>
          <a:p>
            <a:pPr>
              <a:spcBef>
                <a:spcPts val="400"/>
              </a:spcBef>
              <a:defRPr sz="1400">
                <a:solidFill>
                  <a:srgbClr val="F4F7F5"/>
                </a:solidFill>
                <a:latin typeface="Aptos"/>
              </a:defRPr>
            </a:pPr>
            <a:r>
              <a:t>Empowering coaches, athletes, and physiotherapists with accessible, real-time edge biomechanics to predict injuries before they happen.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